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7"/>
  </p:normalViewPr>
  <p:slideViewPr>
    <p:cSldViewPr snapToGrid="0">
      <p:cViewPr varScale="1">
        <p:scale>
          <a:sx n="124" d="100"/>
          <a:sy n="124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8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463040" y="3931920"/>
            <a:ext cx="3657600" cy="3657600"/>
          </a:xfrm>
          <a:prstGeom prst="ellipse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9875520" y="-1371600"/>
            <a:ext cx="3840480" cy="3840480"/>
          </a:xfrm>
          <a:prstGeom prst="ellipse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731520" y="2240280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Athlytic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280160" y="3611880"/>
            <a:ext cx="9631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Sports-performance OS for athletes, coaches, and fitness creators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9768" y="4343400"/>
            <a:ext cx="585216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3169768" y="434340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Abhay Chaturvedi   ·   Founder / Product &amp; Frontend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4956048"/>
            <a:ext cx="103628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venture | Built in India for performance-focused athletes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438248" y="5806440"/>
            <a:ext cx="73152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4117"/>
            </a:srgbClr>
          </a:solidFill>
          <a:ln w="9525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438248" y="5806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Athlytic brings training, running, nutrition, recovery, goals, reports, and coach insights into one premium web platform.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841248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The Team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66928" y="1874520"/>
            <a:ext cx="3246120" cy="386791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" name="Google Shape;3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788" y="213055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0532" y="23317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566928" y="3154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Abhay Chaturvedi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66928" y="3447288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C8186B"/>
                </a:solidFill>
                <a:latin typeface="Calibri"/>
                <a:ea typeface="Calibri"/>
                <a:cs typeface="Calibri"/>
                <a:sym typeface="Calibri"/>
              </a:rPr>
              <a:t>Founder / Product &amp; Frontend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41248" y="3703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Calibri"/>
              <a:buNone/>
            </a:pPr>
            <a:r>
              <a:rPr lang="en-US" sz="950" i="1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• Built Athlytic as a React + TypeScript platform
• Owns product, UI/UX, frontend, and deployment
• Focused on sports-tech for Indian athletes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087368" y="1874520"/>
            <a:ext cx="3246120" cy="386791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Google Shape;36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3228" y="213055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90972" y="23317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4087368" y="3154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Engineering / Backend Support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087368" y="3447288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C8186B"/>
                </a:solidFill>
                <a:latin typeface="Calibri"/>
                <a:ea typeface="Calibri"/>
                <a:cs typeface="Calibri"/>
                <a:sym typeface="Calibri"/>
              </a:rPr>
              <a:t>Planned technical collaborator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361688" y="3703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Calibri"/>
              <a:buNone/>
            </a:pPr>
            <a:r>
              <a:rPr lang="en-US" sz="950" i="1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• Backend, data pipelines, integrations
• Payment systems and mobile/PWA roadmap
• Wearable API expansion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607808" y="1874520"/>
            <a:ext cx="4016959" cy="3867912"/>
          </a:xfrm>
          <a:prstGeom prst="roundRect">
            <a:avLst>
              <a:gd name="adj" fmla="val 5447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08976" y="2075688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24190" y="2190902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8321040" y="2039112"/>
            <a:ext cx="3102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Advisors &amp; Mentors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321040" y="2350008"/>
            <a:ext cx="3102559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Looking for guidance from sports coaches, startup mentors, and health-tech operators to refine GTM, partnerships, and compliance.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4"/>
          <p:cNvPicPr preferRelativeResize="0"/>
          <p:nvPr/>
        </p:nvPicPr>
        <p:blipFill rotWithShape="1">
          <a:blip r:embed="rId8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795528" y="10195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66928" y="1965960"/>
            <a:ext cx="6126480" cy="1033272"/>
          </a:xfrm>
          <a:prstGeom prst="roundRect">
            <a:avLst>
              <a:gd name="adj" fmla="val 1282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08" y="22905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749808" y="22905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316736" y="2125980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Athletes track training, nutrition, sleep, and recovery across disconnected apps, notes, and spreadsheets.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66928" y="3379724"/>
            <a:ext cx="6126480" cy="1033272"/>
          </a:xfrm>
          <a:prstGeom prst="roundRect">
            <a:avLst>
              <a:gd name="adj" fmla="val 1282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08" y="370992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749808" y="37099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316736" y="3545332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Calibri"/>
              <a:buNone/>
            </a:pPr>
            <a:r>
              <a:rPr lang="en-US" sz="1250" dirty="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Amateur athletes, runners, gym-goers, students, coaches, and fitness creators lose context and rely on manual interpretation.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66928" y="4793488"/>
            <a:ext cx="6126480" cy="1033272"/>
          </a:xfrm>
          <a:prstGeom prst="roundRect">
            <a:avLst>
              <a:gd name="adj" fmla="val 1282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08" y="51181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749808" y="51181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316736" y="4953508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Without one performance system, users miss trends, struggle to improve consistently, and coaches lack timely athlete data.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3448" y="1965960"/>
            <a:ext cx="4611319" cy="38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06056" y="22768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306056" y="2807208"/>
            <a:ext cx="41541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KEY STAT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306056" y="3063240"/>
            <a:ext cx="402610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India has a fast-growing fitness and sports-tech market, but affordable athlete-grade analytics remain fragmented.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306056" y="3941064"/>
            <a:ext cx="4026103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Based on secondary market signals and user discovery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5"/>
          <p:cNvPicPr preferRelativeResize="0"/>
          <p:nvPr/>
        </p:nvPicPr>
        <p:blipFill rotWithShape="1">
          <a:blip r:embed="rId7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800100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The Solution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66928" y="19202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700"/>
              <a:buFont typeface="Montserrat"/>
              <a:buNone/>
            </a:pPr>
            <a:r>
              <a:rPr lang="en-US" sz="17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Athlytic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66928" y="233172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250"/>
              <a:buFont typeface="Calibri"/>
              <a:buNone/>
            </a:pPr>
            <a:r>
              <a:rPr lang="en-US" sz="12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Athlytic is a sports-performance tracking platform that combines workout logging, running analytics, nutrition tracking, sleep, goals, weekly reports, and coach-athlete collaboration in one dashboard.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3246120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652" y="3323844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1024128" y="3209544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Unified training, nutrition, running, and recovery data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3975608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652" y="4053332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024128" y="3939032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Progress charts, weekly reports, and actionable insights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4745736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652" y="4823460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1024128" y="4709160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Affordable Free, Pro, Yearly, and Student plans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6928" y="5468112"/>
            <a:ext cx="475488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566928" y="5468112"/>
            <a:ext cx="4754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CURRENT STAGE: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Product ready web app; deployed on Vercel; subscription UX added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739128" y="1920240"/>
            <a:ext cx="4885639" cy="3986784"/>
          </a:xfrm>
          <a:prstGeom prst="roundRect">
            <a:avLst>
              <a:gd name="adj" fmla="val 3429"/>
            </a:avLst>
          </a:prstGeom>
          <a:solidFill>
            <a:srgbClr val="F5F4FB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348" y="30175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63076" y="31363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7013448" y="3566160"/>
            <a:ext cx="433699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Live product dashboard, charts, reports, and profile-based plans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athlytic-pink.vercel.app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8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777240" y="10012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Product / Service – How It Works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66928" y="1874520"/>
            <a:ext cx="5577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HOW IT WORKS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224028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566928" y="22402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170432" y="2240280"/>
            <a:ext cx="4937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Log performance data</a:t>
            </a:r>
            <a:r>
              <a:rPr lang="en-US" sz="12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User records workouts, runs, meals, sleep, goals, and health context from one web dashboard.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7"/>
          <p:cNvCxnSpPr/>
          <p:nvPr/>
        </p:nvCxnSpPr>
        <p:spPr>
          <a:xfrm>
            <a:off x="777240" y="2660904"/>
            <a:ext cx="0" cy="1362456"/>
          </a:xfrm>
          <a:prstGeom prst="straightConnector1">
            <a:avLst/>
          </a:prstGeom>
          <a:noFill/>
          <a:ln w="1905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2" name="Google Shape;112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402336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566928" y="40233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170432" y="4023360"/>
            <a:ext cx="4937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Athlytic converts logs into insights</a:t>
            </a:r>
            <a:r>
              <a:rPr lang="en-US" sz="12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The platform calculates charts, pace/speed trends, macro targets, readiness cues, and weekly report summaries.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7"/>
          <p:cNvCxnSpPr/>
          <p:nvPr/>
        </p:nvCxnSpPr>
        <p:spPr>
          <a:xfrm>
            <a:off x="777240" y="4443984"/>
            <a:ext cx="0" cy="1069848"/>
          </a:xfrm>
          <a:prstGeom prst="straightConnector1">
            <a:avLst/>
          </a:prstGeom>
          <a:noFill/>
          <a:ln w="1905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5513832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566928" y="55138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170432" y="5513832"/>
            <a:ext cx="4937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Train smarter</a:t>
            </a:r>
            <a:r>
              <a:rPr lang="en-US" sz="12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Athletes and coaches use the insights to adjust training, nutrition, recovery, and goals.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64808" y="1874520"/>
            <a:ext cx="5159959" cy="3611880"/>
          </a:xfrm>
          <a:prstGeom prst="roundRect">
            <a:avLst>
              <a:gd name="adj" fmla="val 3038"/>
            </a:avLst>
          </a:prstGeom>
          <a:solidFill>
            <a:srgbClr val="F5F4FB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16188" y="31775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25916" y="32964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6739128" y="3726180"/>
            <a:ext cx="4611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Product flow: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Log data → analyze trends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generate reports → coach decisions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PWA/mobile and wearable integrations next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7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566929" y="4599432"/>
            <a:ext cx="5852160" cy="1754632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841248" y="101498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Market Opportunity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965960"/>
            <a:ext cx="585216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/>
          <p:nvPr/>
        </p:nvSpPr>
        <p:spPr>
          <a:xfrm>
            <a:off x="841248" y="2039112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TAM</a:t>
            </a:r>
            <a:r>
              <a:rPr lang="en-US" sz="125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₹1,000 Cr+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841248" y="235000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E1EE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F3E1EE"/>
                </a:solidFill>
                <a:latin typeface="Calibri"/>
                <a:ea typeface="Calibri"/>
                <a:cs typeface="Calibri"/>
                <a:sym typeface="Calibri"/>
              </a:rPr>
              <a:t>Indian fitness, sports-tech, coaching, and wellness software opportunity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928" y="2807208"/>
            <a:ext cx="448056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841248" y="288036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</a:t>
            </a:r>
            <a:r>
              <a:rPr lang="en-US" sz="1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₹100–300 Cr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41248" y="319125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E1EE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F3E1EE"/>
                </a:solidFill>
                <a:latin typeface="Calibri"/>
                <a:ea typeface="Calibri"/>
                <a:cs typeface="Calibri"/>
                <a:sym typeface="Calibri"/>
              </a:rPr>
              <a:t>Urban athletes, runners, gyms, college teams, coaches, and fitness creators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6928" y="3648456"/>
            <a:ext cx="320040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/>
          <p:nvPr/>
        </p:nvSpPr>
        <p:spPr>
          <a:xfrm>
            <a:off x="841248" y="372160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</a:t>
            </a:r>
            <a:r>
              <a:rPr lang="en-US" sz="1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₹5–15 Cr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841248" y="40325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E1EE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F3E1EE"/>
                </a:solidFill>
                <a:latin typeface="Calibri"/>
                <a:ea typeface="Calibri"/>
                <a:cs typeface="Calibri"/>
                <a:sym typeface="Calibri"/>
              </a:rPr>
              <a:t>First 3–5 years through paid athlete subscriptions and coach plans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50773" y="5297424"/>
            <a:ext cx="52844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Assumptions: freemium acquisition, ₹299/month Pro, ₹2,799/yearly, ₹199/month student, later B2B coach/team plans.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693408" y="1965960"/>
            <a:ext cx="4931359" cy="1974088"/>
          </a:xfrm>
          <a:prstGeom prst="roundRect">
            <a:avLst>
              <a:gd name="adj" fmla="val 7742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67728" y="2240280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18604" y="23911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7653528" y="2258568"/>
            <a:ext cx="37426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Why now?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967728" y="2743200"/>
            <a:ext cx="438271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India is seeing rising fitness adoption, creator-led coaching, affordable wearables, and demand for digital-first sports tools.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693408" y="4379976"/>
            <a:ext cx="4931359" cy="1974088"/>
          </a:xfrm>
          <a:prstGeom prst="roundRect">
            <a:avLst>
              <a:gd name="adj" fmla="val 7742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67728" y="4626864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18604" y="47777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653528" y="4645152"/>
            <a:ext cx="37426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Your early adopters?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967728" y="5129784"/>
            <a:ext cx="438271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College athletes, runners, gym users, fitness creators, and independent coaches who need affordable performance tracking.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10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821283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Business Model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75767" y="189738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8787" y="217170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0811" y="23637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/>
          <p:nvPr/>
        </p:nvSpPr>
        <p:spPr>
          <a:xfrm>
            <a:off x="575767" y="292150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Who pays?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50087" y="325069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Athletes, students, fitness creators, coaches, and later gyms/teams needing analytics and reports.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86479" y="27660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/>
          <p:nvPr/>
        </p:nvSpPr>
        <p:spPr>
          <a:xfrm>
            <a:off x="4461967" y="189738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4987" y="217170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57011" y="23637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/>
          <p:nvPr/>
        </p:nvSpPr>
        <p:spPr>
          <a:xfrm>
            <a:off x="4461967" y="292150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How they pay?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736287" y="325069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Freemium SaaS: Free core tracking; Pro ₹299/month; Yearly ₹2,799; Student Pro ₹199/month.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72679" y="27660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8348167" y="189738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51187" y="217170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43211" y="23637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8348167" y="292150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Revenue per customer?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622487" y="325069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Individual ARPU: ₹199–299/month or ₹2,799/year.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Coach/team plans can add higher B2B ARPU later.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46963" y="4203700"/>
            <a:ext cx="5391760" cy="20116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1283" y="44780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8443" y="46151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1415643" y="4478020"/>
            <a:ext cx="429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Unit economics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821283" y="4953508"/>
            <a:ext cx="4843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Low software delivery cost; growth via campus communities, fitness creators, SEO, referrals, and coach partnerships.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213043" y="4203700"/>
            <a:ext cx="5391760" cy="20116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p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7363" y="44780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4523" y="46151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7081723" y="4478020"/>
            <a:ext cx="429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Revenue streams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87363" y="4953508"/>
            <a:ext cx="4843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Primary: subscriptions. Future: coach/team plans, premium reports, integrations, AI coaching, and partner offers.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9"/>
          <p:cNvPicPr preferRelativeResize="0"/>
          <p:nvPr/>
        </p:nvPicPr>
        <p:blipFill rotWithShape="1">
          <a:blip r:embed="rId12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841248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Roadmap &amp; Milestones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1949158" y="2496312"/>
            <a:ext cx="8293379" cy="0"/>
          </a:xfrm>
          <a:prstGeom prst="straightConnector1">
            <a:avLst/>
          </a:prstGeom>
          <a:noFill/>
          <a:ln w="31750" cap="flat" cmpd="sng">
            <a:solidFill>
              <a:srgbClr val="D8D6E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9" name="Google Shape;199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406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1647406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66928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TODAY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31520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914400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Live product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32688" y="4005072"/>
            <a:ext cx="20329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React + TypeScript web app with dashboards, running charts, reports, pricing, and Vercel deployment.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1866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4411866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331388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+12 MONTHS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495980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678860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Launch subscriptions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697148" y="4005072"/>
            <a:ext cx="20329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Integrate payments, student verification, PWA install flow, onboarding analytics, and first paid users.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6326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7176326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095848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+2 YEARS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260440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443320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Coach and team scale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461608" y="4005072"/>
            <a:ext cx="20329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Add mobile/PWA offline logging, wearable integrations, coach workspaces, and campus/team partnerships.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40785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9940785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8860307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+5 YEARS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9024899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9207779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India athlete network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9226067" y="4005072"/>
            <a:ext cx="20329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Become a performance OS for Indian athletes, academies, coaches, and creators across sports and fitness.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66928" y="6199632"/>
            <a:ext cx="11057839" cy="475488"/>
          </a:xfrm>
          <a:prstGeom prst="roundRect">
            <a:avLst>
              <a:gd name="adj" fmla="val 1923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944" y="6281928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3524" y="6350508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1133856" y="6199632"/>
            <a:ext cx="10326319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 i="1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Roadmap moves from product-led validation to paid subscriptions, then B2B coach/team expansion.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0"/>
          <p:cNvPicPr preferRelativeResize="0"/>
          <p:nvPr/>
        </p:nvPicPr>
        <p:blipFill rotWithShape="1">
          <a:blip r:embed="rId7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1"/>
          <p:cNvSpPr/>
          <p:nvPr/>
        </p:nvSpPr>
        <p:spPr>
          <a:xfrm>
            <a:off x="841248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Key Risks &amp; Mitigation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66928" y="1965960"/>
            <a:ext cx="11057839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" y="2258568"/>
            <a:ext cx="512064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4867" y="2412187"/>
            <a:ext cx="204826" cy="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1527048" y="216712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RISK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527048" y="24231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User retention: athletes may stop logging if daily entry feels like work.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1"/>
          <p:cNvCxnSpPr/>
          <p:nvPr/>
        </p:nvCxnSpPr>
        <p:spPr>
          <a:xfrm>
            <a:off x="6556248" y="2167128"/>
            <a:ext cx="0" cy="694944"/>
          </a:xfrm>
          <a:prstGeom prst="straightConnector1">
            <a:avLst/>
          </a:prstGeom>
          <a:noFill/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2" name="Google Shape;242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2280" y="2286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9440" y="2423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>
            <a:off x="7397496" y="216712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HOW WE'LL TACKLE 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397496" y="2423160"/>
            <a:ext cx="4227271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Simplify mobile/PWA logging, reminders, empty states, streaks, and automatic insights that reward consistent use.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66928" y="3264408"/>
            <a:ext cx="11057839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7" name="Google Shape;24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" y="3557016"/>
            <a:ext cx="512064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4867" y="3710635"/>
            <a:ext cx="204826" cy="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527048" y="346557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RISK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527048" y="372160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Competition from large fitness apps and wearable ecosystems.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1"/>
          <p:cNvCxnSpPr/>
          <p:nvPr/>
        </p:nvCxnSpPr>
        <p:spPr>
          <a:xfrm>
            <a:off x="6556248" y="3465576"/>
            <a:ext cx="0" cy="694944"/>
          </a:xfrm>
          <a:prstGeom prst="straightConnector1">
            <a:avLst/>
          </a:prstGeom>
          <a:noFill/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52" name="Google Shape;252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2280" y="358444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9440" y="37216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7397496" y="346557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HOW WE'LL TACKLE 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397496" y="3721608"/>
            <a:ext cx="4227271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Focus on affordable India-first athlete analytics, coach workflows, student pricing, and cross-domain performance reports.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66928" y="4562856"/>
            <a:ext cx="11057839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7" name="Google Shape;25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" y="4855464"/>
            <a:ext cx="512064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4867" y="5009083"/>
            <a:ext cx="204826" cy="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/>
          <p:nvPr/>
        </p:nvSpPr>
        <p:spPr>
          <a:xfrm>
            <a:off x="1527048" y="476402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RISK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527048" y="502005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Trust, privacy, and accuracy for health and performance data.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1"/>
          <p:cNvCxnSpPr/>
          <p:nvPr/>
        </p:nvCxnSpPr>
        <p:spPr>
          <a:xfrm>
            <a:off x="6556248" y="4764024"/>
            <a:ext cx="0" cy="694944"/>
          </a:xfrm>
          <a:prstGeom prst="straightConnector1">
            <a:avLst/>
          </a:prstGeom>
          <a:noFill/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2" name="Google Shape;262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2280" y="48828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9440" y="50200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/>
          <p:nvPr/>
        </p:nvSpPr>
        <p:spPr>
          <a:xfrm>
            <a:off x="7397496" y="476402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HOW WE'LL TACKLE 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397496" y="5020056"/>
            <a:ext cx="4227271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Use clear disclaimers, secure data handling, transparent calculations, and coach-reviewed insight templates.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1"/>
          <p:cNvPicPr preferRelativeResize="0"/>
          <p:nvPr/>
        </p:nvPicPr>
        <p:blipFill rotWithShape="1">
          <a:blip r:embed="rId8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566928" y="2154552"/>
            <a:ext cx="11057839" cy="2452440"/>
          </a:xfrm>
          <a:prstGeom prst="rect">
            <a:avLst/>
          </a:prstGeom>
          <a:noFill/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566928" y="2793840"/>
            <a:ext cx="3291840" cy="625224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5" name="Google Shape;275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841248" y="103670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Competition &amp; Your Advantage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828800"/>
            <a:ext cx="1105783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/>
          <p:nvPr/>
        </p:nvSpPr>
        <p:spPr>
          <a:xfrm>
            <a:off x="749808" y="18288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Feature / Advantage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3858768" y="1828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lang="en-US" sz="11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Athlytic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800268" y="1828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Strava / Nike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7741768" y="1828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Sheets / Notes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9683267" y="1828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Status Quo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3858768" y="2285999"/>
            <a:ext cx="1941500" cy="2320991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749808" y="22860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Unified training stack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0646" y="239572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146" y="239572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93645" y="239572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35145" y="23957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2"/>
          <p:cNvSpPr/>
          <p:nvPr/>
        </p:nvSpPr>
        <p:spPr>
          <a:xfrm>
            <a:off x="749808" y="287952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Coach-ready reports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0646" y="2989252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52146" y="2989252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93645" y="2989252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35145" y="29892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/>
          <p:nvPr/>
        </p:nvSpPr>
        <p:spPr>
          <a:xfrm>
            <a:off x="749808" y="347304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Student pricing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0646" y="3582776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146" y="3582776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93645" y="3582776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35145" y="35827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2"/>
          <p:cNvSpPr/>
          <p:nvPr/>
        </p:nvSpPr>
        <p:spPr>
          <a:xfrm>
            <a:off x="566928" y="3982560"/>
            <a:ext cx="3291840" cy="625224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749808" y="406657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Weekly PDF reports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0646" y="417630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2146" y="417630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93645" y="417630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35145" y="41763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2"/>
          <p:cNvSpPr/>
          <p:nvPr/>
        </p:nvSpPr>
        <p:spPr>
          <a:xfrm>
            <a:off x="567080" y="4954464"/>
            <a:ext cx="11057839" cy="1499616"/>
          </a:xfrm>
          <a:prstGeom prst="roundRect">
            <a:avLst>
              <a:gd name="adj" fmla="val 10000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7080" y="4954464"/>
            <a:ext cx="73152" cy="15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9688" y="52562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2"/>
          <p:cNvSpPr/>
          <p:nvPr/>
        </p:nvSpPr>
        <p:spPr>
          <a:xfrm>
            <a:off x="1344320" y="5256216"/>
            <a:ext cx="10051999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 dirty="0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YOUR ADVANTAGE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rgbClr val="555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Athlytic combines tracking, analytics, reports, coach workflows, and India-friendly pricing in one focused platform. The advantage compounds through user performance history, campus adoption, and coach-led distribution.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12"/>
          <p:cNvPicPr preferRelativeResize="0"/>
          <p:nvPr/>
        </p:nvPicPr>
        <p:blipFill rotWithShape="1">
          <a:blip r:embed="rId10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/>
          <p:nvPr/>
        </p:nvSpPr>
        <p:spPr>
          <a:xfrm>
            <a:off x="795528" y="103327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Financials &amp; The Ask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965960"/>
            <a:ext cx="4846320" cy="394106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932688" y="22402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WANT TO RAISE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32688" y="251460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"/>
              <a:buNone/>
            </a:pPr>
            <a:r>
              <a:rPr lang="en-US" sz="2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₹25 lakh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32688" y="313639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OF FUNDS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932688" y="3447288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40%  →  Product, PWA, integrations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25%  →  Marketing / creator GTM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20%  →  Team / design / backend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15%  →  Cloud, legal, operations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824728" y="1965960"/>
            <a:ext cx="5800039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3-YEAR SNAPSHOT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824728" y="2276856"/>
            <a:ext cx="1780946" cy="914400"/>
          </a:xfrm>
          <a:prstGeom prst="roundRect">
            <a:avLst>
              <a:gd name="adj" fmla="val 10000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5824728" y="2386584"/>
            <a:ext cx="178094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100"/>
              <a:buFont typeface="Montserrat"/>
              <a:buNone/>
            </a:pPr>
            <a:r>
              <a:rPr lang="en-US" sz="11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Year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824728" y="2624328"/>
            <a:ext cx="178094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₹5–10L ARR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834274" y="2276856"/>
            <a:ext cx="1780946" cy="914400"/>
          </a:xfrm>
          <a:prstGeom prst="roundRect">
            <a:avLst>
              <a:gd name="adj" fmla="val 10000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7834274" y="2386584"/>
            <a:ext cx="178094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100"/>
              <a:buFont typeface="Montserrat"/>
              <a:buNone/>
            </a:pPr>
            <a:r>
              <a:rPr lang="en-US" sz="11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Year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7834274" y="2624328"/>
            <a:ext cx="178094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₹35–50L ARR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9843821" y="2276856"/>
            <a:ext cx="1780946" cy="914400"/>
          </a:xfrm>
          <a:prstGeom prst="roundRect">
            <a:avLst>
              <a:gd name="adj" fmla="val 10000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9843821" y="2386584"/>
            <a:ext cx="178094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100"/>
              <a:buFont typeface="Montserrat"/>
              <a:buNone/>
            </a:pPr>
            <a:r>
              <a:rPr lang="en-US" sz="11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Year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9843821" y="2624328"/>
            <a:ext cx="178094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₹1–1.5Cr ARR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824728" y="3246120"/>
            <a:ext cx="5800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Revenue driven by Pro, Yearly, Student Pro, and later coach/team subscriptions. Detailed assumptions can sit in annexure.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824728" y="3593592"/>
            <a:ext cx="5800039" cy="231343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5" name="Google Shape;335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7336" y="3867912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523" y="3994099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"/>
          <p:cNvSpPr/>
          <p:nvPr/>
        </p:nvSpPr>
        <p:spPr>
          <a:xfrm>
            <a:off x="6693408" y="3849624"/>
            <a:ext cx="47027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What non-monetary support would you like from Vande Bharatam?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6117336" y="4343400"/>
            <a:ext cx="521482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Mentorship in sports-tech GTM, access to athlete communities, college/sports institution pilots, payment/legal guidance, and connects with coaches and fitness creators.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13"/>
          <p:cNvPicPr preferRelativeResize="0"/>
          <p:nvPr/>
        </p:nvPicPr>
        <p:blipFill rotWithShape="1">
          <a:blip r:embed="rId7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4"/>
          <p:cNvSpPr/>
          <p:nvPr/>
        </p:nvSpPr>
        <p:spPr>
          <a:xfrm>
            <a:off x="804672" y="896112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ANY ADDITIONAL INFORMATION YOU WOULD LIKE US TO KNOW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795528" y="11338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Annexure 1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66928" y="1828800"/>
            <a:ext cx="11057839" cy="4160520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932688" y="3863340"/>
            <a:ext cx="10326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250"/>
              <a:buFont typeface="Calibri"/>
              <a:buNone/>
            </a:pPr>
            <a:r>
              <a:rPr lang="en-US" sz="125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Product modules: Dashboard, Workouts, Running analytics, Nutrition, Goals, Reports, Coach Portal, Profile, Integrations, Biomarkers, and Community. The product is already structured as a multi-page web app with reusable components and dark premium UI.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4"/>
          <p:cNvPicPr preferRelativeResize="0"/>
          <p:nvPr/>
        </p:nvPicPr>
        <p:blipFill rotWithShape="1">
          <a:blip r:embed="rId4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5"/>
          <p:cNvSpPr/>
          <p:nvPr/>
        </p:nvSpPr>
        <p:spPr>
          <a:xfrm>
            <a:off x="804672" y="896112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ANY ADDITIONAL INFORMATION YOU WOULD LIKE US TO KNOW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795528" y="11338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Annexure 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66928" y="1828800"/>
            <a:ext cx="11057839" cy="4160520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932688" y="3863340"/>
            <a:ext cx="10326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250"/>
              <a:buFont typeface="Calibri"/>
              <a:buNone/>
            </a:pPr>
            <a:r>
              <a:rPr lang="en-US" sz="125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Pricing: Free plan for basic tracking; Pro at ₹299/month; Pro Yearly at ₹2,799/year, saving ₹789 versus monthly; Student Pro at ₹199/month. Paid features include reports, exports, long-term analytics, and coach tools.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15"/>
          <p:cNvPicPr preferRelativeResize="0"/>
          <p:nvPr/>
        </p:nvPicPr>
        <p:blipFill rotWithShape="1">
          <a:blip r:embed="rId4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6"/>
          <p:cNvSpPr/>
          <p:nvPr/>
        </p:nvSpPr>
        <p:spPr>
          <a:xfrm>
            <a:off x="804672" y="896112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ANY ADDITIONAL INFORMATION YOU WOULD LIKE US TO KNOW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795528" y="11338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Annexure 3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566928" y="1828800"/>
            <a:ext cx="11057839" cy="4160520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932688" y="3863340"/>
            <a:ext cx="10326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250"/>
              <a:buFont typeface="Calibri"/>
              <a:buNone/>
            </a:pPr>
            <a:r>
              <a:rPr lang="en-US" sz="125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Current traction assets: working web product, Vercel deployment, GitHub version control, running charts with Recharts, weekly report flow, subscription UI, and responsive athlete dashboard. Next validation step is onboarding pilot users.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16"/>
          <p:cNvPicPr preferRelativeResize="0"/>
          <p:nvPr/>
        </p:nvPicPr>
        <p:blipFill rotWithShape="1">
          <a:blip r:embed="rId4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7"/>
          <p:cNvSpPr/>
          <p:nvPr/>
        </p:nvSpPr>
        <p:spPr>
          <a:xfrm>
            <a:off x="804672" y="896112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ANY ADDITIONAL INFORMATION YOU WOULD LIKE US TO KNOW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795528" y="11338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Annexure 4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566928" y="1828800"/>
            <a:ext cx="11057839" cy="4160520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932688" y="3863340"/>
            <a:ext cx="10326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250"/>
              <a:buFont typeface="Calibri"/>
              <a:buNone/>
            </a:pPr>
            <a:r>
              <a:rPr lang="en-US" sz="125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10-year vision: make Athlytic a made-in-India performance OS for athletes and coaches, expanding into AI coaching, wearable sync, mobile/PWA, academy dashboards, and data-backed training tools for India’s sports ecosystem.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17"/>
          <p:cNvPicPr preferRelativeResize="0"/>
          <p:nvPr/>
        </p:nvPicPr>
        <p:blipFill rotWithShape="1">
          <a:blip r:embed="rId4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Macintosh PowerPoint</Application>
  <PresentationFormat>Widescreen</PresentationFormat>
  <Paragraphs>171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Rajat Goel</cp:lastModifiedBy>
  <cp:revision>2</cp:revision>
  <dcterms:modified xsi:type="dcterms:W3CDTF">2026-06-22T15:40:41Z</dcterms:modified>
</cp:coreProperties>
</file>